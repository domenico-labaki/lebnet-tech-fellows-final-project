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8F5EF89-9EC2-4427-B0D5-5F778C79864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STATEBENCH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B14227-E818-4B52-B9C5-4DFA2DDC2E05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6191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Working state for</a:t>
            </a:r>
          </a:p>
          <a:p>
            <a:pPr algn="l">
              <a:buNone/>
              <a:defRPr sz="3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reliable multi-step</a:t>
            </a:r>
          </a:p>
          <a:p>
            <a:pPr algn="l">
              <a:buNone/>
              <a:defRPr sz="3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tool use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50C736-B615-4A3E-AFBA-810B50AA5CED}"/>
              </a:ext>
            </a:extLst>
          </p:cNvPr>
          <p:cNvSpPr>
            <a:spLocks noGrp="1"/>
          </p:cNvSpPr>
          <p:nvPr/>
        </p:nvSpPr>
        <p:spPr>
          <a:xfrm>
            <a:off x="628650" y="3886200"/>
            <a:ext cx="590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Representative FuncBenchGen reproduction + controlled Qwen3.6-27B extension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5F3D71-9D71-4A1A-A166-41605C84DBD1}"/>
              </a:ext>
            </a:extLst>
          </p:cNvPr>
          <p:cNvSpPr>
            <a:spLocks noGrp="1"/>
          </p:cNvSpPr>
          <p:nvPr/>
        </p:nvSpPr>
        <p:spPr>
          <a:xfrm>
            <a:off x="628650" y="4876800"/>
            <a:ext cx="5334000" cy="876300"/>
          </a:xfrm>
          <a:prstGeom prst="roundRect">
            <a:avLst>
              <a:gd name="adj" fmla="val 13043"/>
            </a:avLst>
          </a:prstGeom>
          <a:solidFill>
            <a:srgbClr val="183153"/>
          </a:solidFill>
          <a:ln w="9525">
            <a:solidFill>
              <a:srgbClr val="183153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82073-C457-46A7-A853-5B5705EC1978}"/>
              </a:ext>
            </a:extLst>
          </p:cNvPr>
          <p:cNvSpPr>
            <a:spLocks noGrp="1"/>
          </p:cNvSpPr>
          <p:nvPr/>
        </p:nvSpPr>
        <p:spPr>
          <a:xfrm>
            <a:off x="838200" y="50482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B9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D7FF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DF0D14-66F7-465E-985C-2C448C2CB022}"/>
              </a:ext>
            </a:extLst>
          </p:cNvPr>
          <p:cNvSpPr>
            <a:spLocks noGrp="1"/>
          </p:cNvSpPr>
          <p:nvPr/>
        </p:nvSpPr>
        <p:spPr>
          <a:xfrm>
            <a:off x="838200" y="530542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71"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Does state representation change exact success and context cost?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B07074A-0661-41FC-AF5F-489CDFEADA81}"/>
              </a:ext>
            </a:extLst>
          </p:cNvPr>
          <p:cNvSpPr>
            <a:spLocks noGrp="1"/>
          </p:cNvSpPr>
          <p:nvPr/>
        </p:nvSpPr>
        <p:spPr>
          <a:xfrm flipV="1">
            <a:off x="7353300" y="1104900"/>
            <a:ext cx="1143000" cy="66675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7C8DB128-1046-48A6-85E4-5CA6A647FE04}"/>
              </a:ext>
            </a:extLst>
          </p:cNvPr>
          <p:cNvSpPr>
            <a:spLocks noGrp="1"/>
          </p:cNvSpPr>
          <p:nvPr/>
        </p:nvSpPr>
        <p:spPr>
          <a:xfrm>
            <a:off x="7353300" y="1771650"/>
            <a:ext cx="1143000" cy="76200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A3D4580-4E03-4EAE-B5A2-F3CBF75AD7FF}"/>
              </a:ext>
            </a:extLst>
          </p:cNvPr>
          <p:cNvSpPr>
            <a:spLocks noGrp="1"/>
          </p:cNvSpPr>
          <p:nvPr/>
        </p:nvSpPr>
        <p:spPr>
          <a:xfrm>
            <a:off x="8877300" y="1104900"/>
            <a:ext cx="1285875" cy="93345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3AEEDA1-A75C-4697-8E72-3FE15D4CE2AE}"/>
              </a:ext>
            </a:extLst>
          </p:cNvPr>
          <p:cNvSpPr>
            <a:spLocks noGrp="1"/>
          </p:cNvSpPr>
          <p:nvPr/>
        </p:nvSpPr>
        <p:spPr>
          <a:xfrm flipV="1">
            <a:off x="8877300" y="2038350"/>
            <a:ext cx="1285875" cy="49530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ECAD8E2-DB92-40D5-A4BC-FEA1BB0F8AA7}"/>
              </a:ext>
            </a:extLst>
          </p:cNvPr>
          <p:cNvSpPr>
            <a:spLocks noGrp="1"/>
          </p:cNvSpPr>
          <p:nvPr/>
        </p:nvSpPr>
        <p:spPr>
          <a:xfrm flipV="1">
            <a:off x="7505700" y="2813255"/>
            <a:ext cx="1200150" cy="762000"/>
          </a:xfrm>
          <a:prstGeom prst="line">
            <a:avLst/>
          </a:prstGeom>
          <a:noFill/>
          <a:ln w="28575">
            <a:solidFill>
              <a:srgbClr val="D92D20"/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7C9DBD-52A9-463C-850E-D95AD4C3739B}"/>
              </a:ext>
            </a:extLst>
          </p:cNvPr>
          <p:cNvSpPr>
            <a:spLocks noGrp="1"/>
          </p:cNvSpPr>
          <p:nvPr/>
        </p:nvSpPr>
        <p:spPr>
          <a:xfrm>
            <a:off x="6934200" y="1447800"/>
            <a:ext cx="666750" cy="666750"/>
          </a:xfrm>
          <a:prstGeom prst="ellipse">
            <a:avLst/>
          </a:prstGeom>
          <a:solidFill>
            <a:srgbClr val="EA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E5457-2395-4C9C-86C0-27EEDFD163CD}"/>
              </a:ext>
            </a:extLst>
          </p:cNvPr>
          <p:cNvSpPr>
            <a:spLocks noGrp="1"/>
          </p:cNvSpPr>
          <p:nvPr/>
        </p:nvSpPr>
        <p:spPr>
          <a:xfrm>
            <a:off x="6934200" y="15621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457B34-F82C-43C5-A9F4-EB3A27EE5981}"/>
              </a:ext>
            </a:extLst>
          </p:cNvPr>
          <p:cNvSpPr>
            <a:spLocks noGrp="1"/>
          </p:cNvSpPr>
          <p:nvPr/>
        </p:nvSpPr>
        <p:spPr>
          <a:xfrm>
            <a:off x="8477250" y="762000"/>
            <a:ext cx="628650" cy="6286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9484A2-583D-4C92-8D60-4054B581446B}"/>
              </a:ext>
            </a:extLst>
          </p:cNvPr>
          <p:cNvSpPr>
            <a:spLocks noGrp="1"/>
          </p:cNvSpPr>
          <p:nvPr/>
        </p:nvSpPr>
        <p:spPr>
          <a:xfrm>
            <a:off x="8477250" y="87630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v1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D8CFCBB-678A-42E9-9F38-E96E58BA392D}"/>
              </a:ext>
            </a:extLst>
          </p:cNvPr>
          <p:cNvSpPr>
            <a:spLocks noGrp="1"/>
          </p:cNvSpPr>
          <p:nvPr/>
        </p:nvSpPr>
        <p:spPr>
          <a:xfrm>
            <a:off x="8477250" y="2209800"/>
            <a:ext cx="628650" cy="6286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0D97B0-2507-4CA5-B67C-7FE8E432D3E8}"/>
              </a:ext>
            </a:extLst>
          </p:cNvPr>
          <p:cNvSpPr>
            <a:spLocks noGrp="1"/>
          </p:cNvSpPr>
          <p:nvPr/>
        </p:nvSpPr>
        <p:spPr>
          <a:xfrm>
            <a:off x="8477250" y="232410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v2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46BD708-7547-4917-AF19-85E170FDC88F}"/>
              </a:ext>
            </a:extLst>
          </p:cNvPr>
          <p:cNvSpPr>
            <a:spLocks noGrp="1"/>
          </p:cNvSpPr>
          <p:nvPr/>
        </p:nvSpPr>
        <p:spPr>
          <a:xfrm>
            <a:off x="10134600" y="1704975"/>
            <a:ext cx="723900" cy="723900"/>
          </a:xfrm>
          <a:prstGeom prst="ellipse">
            <a:avLst/>
          </a:prstGeom>
          <a:solidFill>
            <a:srgbClr val="D1FAE5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AC6B23-DB98-4257-A341-370A6526E3CA}"/>
              </a:ext>
            </a:extLst>
          </p:cNvPr>
          <p:cNvSpPr>
            <a:spLocks noGrp="1"/>
          </p:cNvSpPr>
          <p:nvPr/>
        </p:nvSpPr>
        <p:spPr>
          <a:xfrm>
            <a:off x="10134600" y="1819275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DD8B942-9D1F-412F-A68C-A003FBFD4117}"/>
              </a:ext>
            </a:extLst>
          </p:cNvPr>
          <p:cNvSpPr>
            <a:spLocks noGrp="1"/>
          </p:cNvSpPr>
          <p:nvPr/>
        </p:nvSpPr>
        <p:spPr>
          <a:xfrm>
            <a:off x="7029450" y="3403805"/>
            <a:ext cx="571500" cy="571500"/>
          </a:xfrm>
          <a:prstGeom prst="ellipse">
            <a:avLst/>
          </a:prstGeom>
          <a:solidFill>
            <a:srgbClr val="FEE4E2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CE5739-6E0B-404E-9F6F-9514B8793C36}"/>
              </a:ext>
            </a:extLst>
          </p:cNvPr>
          <p:cNvSpPr>
            <a:spLocks noGrp="1"/>
          </p:cNvSpPr>
          <p:nvPr/>
        </p:nvSpPr>
        <p:spPr>
          <a:xfrm>
            <a:off x="7029450" y="358094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96" lnSpcReduction="10000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183153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6B3DDC-A9AD-4416-979E-B07CD05043A0}"/>
              </a:ext>
            </a:extLst>
          </p:cNvPr>
          <p:cNvSpPr>
            <a:spLocks noGrp="1"/>
          </p:cNvSpPr>
          <p:nvPr/>
        </p:nvSpPr>
        <p:spPr>
          <a:xfrm>
            <a:off x="7505700" y="48387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hidden dependency graph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526673-8279-4316-9C0A-E30A8EDBBAC7}"/>
              </a:ext>
            </a:extLst>
          </p:cNvPr>
          <p:cNvSpPr>
            <a:spLocks noGrp="1"/>
          </p:cNvSpPr>
          <p:nvPr/>
        </p:nvSpPr>
        <p:spPr>
          <a:xfrm>
            <a:off x="7086600" y="5219700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75 paired executions • 15 frozen graphs • 5 state strategies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5C4B18-4B94-405F-950B-6572F13E1DF6}"/>
              </a:ext>
            </a:extLst>
          </p:cNvPr>
          <p:cNvSpPr>
            <a:spLocks noGrp="1"/>
          </p:cNvSpPr>
          <p:nvPr/>
        </p:nvSpPr>
        <p:spPr>
          <a:xfrm>
            <a:off x="590550" y="63817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LebNet Tech Fellows 2026</a:t>
            </a:r>
          </a:p>
        </p:txBody>
      </p:sp>
    </p:spTree>
    <p:extLst>
      <p:ext uri="{BB962C8B-B14F-4D97-AF65-F5344CB8AC3E}">
        <p14:creationId xmlns:p14="http://schemas.microsoft.com/office/powerpoint/2010/main" val="48695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C387965-C696-4C2E-9690-FD1886FA68A4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PAPER CONCEPT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F9B37A-B59D-4DB2-94E1-D493C2237B2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model must traverse a graph it cannot see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67F9100-283C-4A5B-9A89-CEC743C8FAA8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871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2101C5-DB1F-46AC-ABA4-DCC4A003F9CD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r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24ED47-1C9B-4100-888A-15FCB386050F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285750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CACAB3-607A-43A5-A38F-721EE93C3259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buNone/>
              <a:defRPr sz="1650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What the model sees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AA095F-2733-48F2-9250-5FD0F23D9B91}"/>
              </a:ext>
            </a:extLst>
          </p:cNvPr>
          <p:cNvSpPr>
            <a:spLocks noGrp="1"/>
          </p:cNvSpPr>
          <p:nvPr/>
        </p:nvSpPr>
        <p:spPr>
          <a:xfrm>
            <a:off x="781050" y="2324100"/>
            <a:ext cx="2381250" cy="742950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9CE91C-099F-4862-956B-BEDD2D200F02}"/>
              </a:ext>
            </a:extLst>
          </p:cNvPr>
          <p:cNvSpPr>
            <a:spLocks noGrp="1"/>
          </p:cNvSpPr>
          <p:nvPr/>
        </p:nvSpPr>
        <p:spPr>
          <a:xfrm>
            <a:off x="933450" y="24479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588"/>
          </a:bodyPr>
          <a:lstStyle/>
          <a:p>
            <a:pPr algn="l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Initial values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04353B-EA7A-4AA5-9E7F-343186D19328}"/>
              </a:ext>
            </a:extLst>
          </p:cNvPr>
          <p:cNvSpPr>
            <a:spLocks noGrp="1"/>
          </p:cNvSpPr>
          <p:nvPr/>
        </p:nvSpPr>
        <p:spPr>
          <a:xfrm>
            <a:off x="933450" y="27051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typed inputs already known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8EE493-418A-4F94-8361-D4B6EF972800}"/>
              </a:ext>
            </a:extLst>
          </p:cNvPr>
          <p:cNvSpPr>
            <a:spLocks noGrp="1"/>
          </p:cNvSpPr>
          <p:nvPr/>
        </p:nvSpPr>
        <p:spPr>
          <a:xfrm>
            <a:off x="781050" y="3295650"/>
            <a:ext cx="2381250" cy="742950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562768-35F8-457B-9C3B-B04F9112600A}"/>
              </a:ext>
            </a:extLst>
          </p:cNvPr>
          <p:cNvSpPr>
            <a:spLocks noGrp="1"/>
          </p:cNvSpPr>
          <p:nvPr/>
        </p:nvSpPr>
        <p:spPr>
          <a:xfrm>
            <a:off x="933450" y="341947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588"/>
          </a:bodyPr>
          <a:lstStyle/>
          <a:p>
            <a:pPr algn="l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Tool schemas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EDD7CA-C748-42A6-82CF-842D51B7C803}"/>
              </a:ext>
            </a:extLst>
          </p:cNvPr>
          <p:cNvSpPr>
            <a:spLocks noGrp="1"/>
          </p:cNvSpPr>
          <p:nvPr/>
        </p:nvSpPr>
        <p:spPr>
          <a:xfrm>
            <a:off x="933450" y="36766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randomized function list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F47DA24-7426-4F66-8D6B-F8D99378E283}"/>
              </a:ext>
            </a:extLst>
          </p:cNvPr>
          <p:cNvSpPr>
            <a:spLocks noGrp="1"/>
          </p:cNvSpPr>
          <p:nvPr/>
        </p:nvSpPr>
        <p:spPr>
          <a:xfrm>
            <a:off x="781050" y="4267200"/>
            <a:ext cx="2381250" cy="742950"/>
          </a:xfrm>
          <a:prstGeom prst="roundRect">
            <a:avLst>
              <a:gd name="adj" fmla="val 15385"/>
            </a:avLst>
          </a:prstGeom>
          <a:solidFill>
            <a:srgbClr val="D1FAE5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7DCF2A-FC4C-4DE2-8F24-E2CD306F2232}"/>
              </a:ext>
            </a:extLst>
          </p:cNvPr>
          <p:cNvSpPr>
            <a:spLocks noGrp="1"/>
          </p:cNvSpPr>
          <p:nvPr/>
        </p:nvSpPr>
        <p:spPr>
          <a:xfrm>
            <a:off x="933450" y="43910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588"/>
          </a:bodyPr>
          <a:lstStyle/>
          <a:p>
            <a:pPr algn="l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1BB2BE-B3B0-40BA-922E-2E4E98273D77}"/>
              </a:ext>
            </a:extLst>
          </p:cNvPr>
          <p:cNvSpPr>
            <a:spLocks noGrp="1"/>
          </p:cNvSpPr>
          <p:nvPr/>
        </p:nvSpPr>
        <p:spPr>
          <a:xfrm>
            <a:off x="933450" y="46482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one value to produce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430E49F-E482-4A6B-93FA-D2EB1352B7D9}"/>
              </a:ext>
            </a:extLst>
          </p:cNvPr>
          <p:cNvSpPr>
            <a:spLocks noGrp="1"/>
          </p:cNvSpPr>
          <p:nvPr/>
        </p:nvSpPr>
        <p:spPr>
          <a:xfrm>
            <a:off x="3581400" y="3390900"/>
            <a:ext cx="571500" cy="20955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0D1E1B-8043-4F25-90CD-602FA48CDC78}"/>
              </a:ext>
            </a:extLst>
          </p:cNvPr>
          <p:cNvSpPr>
            <a:spLocks noGrp="1"/>
          </p:cNvSpPr>
          <p:nvPr/>
        </p:nvSpPr>
        <p:spPr>
          <a:xfrm>
            <a:off x="4324350" y="1504950"/>
            <a:ext cx="7315200" cy="4343400"/>
          </a:xfrm>
          <a:prstGeom prst="roundRect">
            <a:avLst>
              <a:gd name="adj" fmla="val 2632"/>
            </a:avLst>
          </a:prstGeom>
          <a:solidFill>
            <a:srgbClr val="F0F5FF"/>
          </a:solidFill>
          <a:ln w="9525">
            <a:solidFill>
              <a:srgbClr val="B9D7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465145-79BC-4F3F-9D6B-B60AEDCDC09C}"/>
              </a:ext>
            </a:extLst>
          </p:cNvPr>
          <p:cNvSpPr>
            <a:spLocks noGrp="1"/>
          </p:cNvSpPr>
          <p:nvPr/>
        </p:nvSpPr>
        <p:spPr>
          <a:xfrm>
            <a:off x="4610100" y="17526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buNone/>
              <a:defRPr sz="1650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What the evaluator hides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3175E55-128E-433B-9947-0D05A7B6C1A2}"/>
              </a:ext>
            </a:extLst>
          </p:cNvPr>
          <p:cNvSpPr>
            <a:spLocks noGrp="1"/>
          </p:cNvSpPr>
          <p:nvPr/>
        </p:nvSpPr>
        <p:spPr>
          <a:xfrm flipV="1">
            <a:off x="5143500" y="2743200"/>
            <a:ext cx="1428750" cy="95250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956BC6D6-1A99-4825-9F1C-C6B5122023A8}"/>
              </a:ext>
            </a:extLst>
          </p:cNvPr>
          <p:cNvSpPr>
            <a:spLocks noGrp="1"/>
          </p:cNvSpPr>
          <p:nvPr/>
        </p:nvSpPr>
        <p:spPr>
          <a:xfrm>
            <a:off x="5143500" y="3695700"/>
            <a:ext cx="1428750" cy="95250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65C43637-DD4F-451E-ACB2-0C2096A25602}"/>
              </a:ext>
            </a:extLst>
          </p:cNvPr>
          <p:cNvSpPr>
            <a:spLocks noGrp="1"/>
          </p:cNvSpPr>
          <p:nvPr/>
        </p:nvSpPr>
        <p:spPr>
          <a:xfrm>
            <a:off x="7010400" y="2743200"/>
            <a:ext cx="1524000" cy="95250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BFD1910B-8029-414C-A5BE-246D51EB03CF}"/>
              </a:ext>
            </a:extLst>
          </p:cNvPr>
          <p:cNvSpPr>
            <a:spLocks noGrp="1"/>
          </p:cNvSpPr>
          <p:nvPr/>
        </p:nvSpPr>
        <p:spPr>
          <a:xfrm flipV="1">
            <a:off x="7010400" y="3695700"/>
            <a:ext cx="1524000" cy="95250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159812C-885A-448E-928B-EBFF07883910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704850" cy="7048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438226-2312-4F6A-92EA-9DDF6311F43E}"/>
              </a:ext>
            </a:extLst>
          </p:cNvPr>
          <p:cNvSpPr>
            <a:spLocks noGrp="1"/>
          </p:cNvSpPr>
          <p:nvPr/>
        </p:nvSpPr>
        <p:spPr>
          <a:xfrm>
            <a:off x="4762500" y="3448050"/>
            <a:ext cx="70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v0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7FE1BE-A812-452F-870C-D24E96C71201}"/>
              </a:ext>
            </a:extLst>
          </p:cNvPr>
          <p:cNvSpPr>
            <a:spLocks noGrp="1"/>
          </p:cNvSpPr>
          <p:nvPr/>
        </p:nvSpPr>
        <p:spPr>
          <a:xfrm>
            <a:off x="6553200" y="2381250"/>
            <a:ext cx="685800" cy="685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562760-68DB-4994-823D-28323DAF82F9}"/>
              </a:ext>
            </a:extLst>
          </p:cNvPr>
          <p:cNvSpPr>
            <a:spLocks noGrp="1"/>
          </p:cNvSpPr>
          <p:nvPr/>
        </p:nvSpPr>
        <p:spPr>
          <a:xfrm>
            <a:off x="6553200" y="249555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A54290B-0FA4-4DC2-BAB7-0448F2E4211D}"/>
              </a:ext>
            </a:extLst>
          </p:cNvPr>
          <p:cNvSpPr>
            <a:spLocks noGrp="1"/>
          </p:cNvSpPr>
          <p:nvPr/>
        </p:nvSpPr>
        <p:spPr>
          <a:xfrm>
            <a:off x="6553200" y="4286250"/>
            <a:ext cx="685800" cy="685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263A46-4005-4FE4-AC1D-8B8DD890D6F0}"/>
              </a:ext>
            </a:extLst>
          </p:cNvPr>
          <p:cNvSpPr>
            <a:spLocks noGrp="1"/>
          </p:cNvSpPr>
          <p:nvPr/>
        </p:nvSpPr>
        <p:spPr>
          <a:xfrm>
            <a:off x="6553200" y="440055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f2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1600681-25CE-4920-A5C8-596D8C2E7510}"/>
              </a:ext>
            </a:extLst>
          </p:cNvPr>
          <p:cNvSpPr>
            <a:spLocks noGrp="1"/>
          </p:cNvSpPr>
          <p:nvPr/>
        </p:nvSpPr>
        <p:spPr>
          <a:xfrm>
            <a:off x="8572500" y="3333750"/>
            <a:ext cx="742950" cy="742950"/>
          </a:xfrm>
          <a:prstGeom prst="ellipse">
            <a:avLst/>
          </a:prstGeom>
          <a:solidFill>
            <a:srgbClr val="D1FAE5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421B5D-BEC6-41C3-997D-E0E3E86E5BCE}"/>
              </a:ext>
            </a:extLst>
          </p:cNvPr>
          <p:cNvSpPr>
            <a:spLocks noGrp="1"/>
          </p:cNvSpPr>
          <p:nvPr/>
        </p:nvSpPr>
        <p:spPr>
          <a:xfrm>
            <a:off x="8572500" y="34480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62AE5AB-96A9-47F7-AC04-C4BA98B24ABB}"/>
              </a:ext>
            </a:extLst>
          </p:cNvPr>
          <p:cNvSpPr>
            <a:spLocks noGrp="1"/>
          </p:cNvSpPr>
          <p:nvPr/>
        </p:nvSpPr>
        <p:spPr>
          <a:xfrm>
            <a:off x="9982200" y="4629150"/>
            <a:ext cx="571500" cy="571500"/>
          </a:xfrm>
          <a:prstGeom prst="ellipse">
            <a:avLst/>
          </a:prstGeom>
          <a:solidFill>
            <a:srgbClr val="FEE4E2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C9DD0C-6D50-45B3-95AA-0334BF26E6D1}"/>
              </a:ext>
            </a:extLst>
          </p:cNvPr>
          <p:cNvSpPr>
            <a:spLocks noGrp="1"/>
          </p:cNvSpPr>
          <p:nvPr/>
        </p:nvSpPr>
        <p:spPr>
          <a:xfrm>
            <a:off x="9982200" y="47434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B6F424E-A460-4515-80C8-E4E6C4DA4DB1}"/>
              </a:ext>
            </a:extLst>
          </p:cNvPr>
          <p:cNvSpPr>
            <a:spLocks noGrp="1"/>
          </p:cNvSpPr>
          <p:nvPr/>
        </p:nvSpPr>
        <p:spPr>
          <a:xfrm>
            <a:off x="6191250" y="5314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392"/>
          </a:bodyPr>
          <a:lstStyle/>
          <a:p>
            <a:pPr algn="ctr">
              <a:buNone/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edges + valid dependency path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CD5703-E2DE-40CA-BFF5-0719936AC0A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Success requires the exact target value—not merely plausible tool calls.</a:t>
            </a:r>
          </a:p>
        </p:txBody>
      </p:sp>
    </p:spTree>
    <p:extLst>
      <p:ext uri="{BB962C8B-B14F-4D97-AF65-F5344CB8AC3E}">
        <p14:creationId xmlns:p14="http://schemas.microsoft.com/office/powerpoint/2010/main" val="936868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A45BF7F-8816-4DEF-B30A-B589BAD09F8F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PAPER CONCEPT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D1D7BF-E95D-4189-A835-3871BAD8A64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Difficulty is controlled, not guessed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FE3CD50-9FE1-42F5-8A6C-351E0A0B906C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871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531CFD-DA50-4260-A36F-850E67253332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r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86831E-4221-450F-A7E0-71DE22B58788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3333750" cy="44386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0F9D8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CC3699-48FB-4C1F-9A55-3752E5D4F0E0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913"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Easy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302E44-BEA7-46C6-89E7-9935FA1A761D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buNone/>
              <a:defRPr sz="1125" b="1">
                <a:solidFill>
                  <a:srgbClr val="0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9D8A"/>
                </a:solidFill>
                <a:latin typeface="Aptos"/>
                <a:ea typeface="Aptos"/>
                <a:cs typeface="Aptos"/>
              </a:rPr>
              <a:t>depth 1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ACCCC77-24B1-4501-B74C-88EB5F291CED}"/>
              </a:ext>
            </a:extLst>
          </p:cNvPr>
          <p:cNvSpPr>
            <a:spLocks noGrp="1"/>
          </p:cNvSpPr>
          <p:nvPr/>
        </p:nvSpPr>
        <p:spPr>
          <a:xfrm>
            <a:off x="1524000" y="3609975"/>
            <a:ext cx="1428750" cy="0"/>
          </a:xfrm>
          <a:prstGeom prst="line">
            <a:avLst/>
          </a:prstGeom>
          <a:noFill/>
          <a:ln w="38100">
            <a:solidFill>
              <a:srgbClr val="0F9D8A"/>
            </a:solidFill>
            <a:prstDash val="solid"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2B7C9F-0C4E-448F-9171-BC7FC3644752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514350" cy="514350"/>
          </a:xfrm>
          <a:prstGeom prst="ellipse">
            <a:avLst/>
          </a:prstGeom>
          <a:solidFill>
            <a:srgbClr val="EA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4C186F-0F8B-45C9-B522-B9B4AE6A8589}"/>
              </a:ext>
            </a:extLst>
          </p:cNvPr>
          <p:cNvSpPr>
            <a:spLocks noGrp="1"/>
          </p:cNvSpPr>
          <p:nvPr/>
        </p:nvSpPr>
        <p:spPr>
          <a:xfrm>
            <a:off x="1009650" y="34671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1298F0-BE08-4AB5-923F-5B74D69930A0}"/>
              </a:ext>
            </a:extLst>
          </p:cNvPr>
          <p:cNvSpPr>
            <a:spLocks noGrp="1"/>
          </p:cNvSpPr>
          <p:nvPr/>
        </p:nvSpPr>
        <p:spPr>
          <a:xfrm>
            <a:off x="2952750" y="3352800"/>
            <a:ext cx="514350" cy="514350"/>
          </a:xfrm>
          <a:prstGeom prst="ellipse">
            <a:avLst/>
          </a:prstGeom>
          <a:solidFill>
            <a:srgbClr val="D1FAE5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F07B21-341B-46A8-BCA4-BEE5489D5806}"/>
              </a:ext>
            </a:extLst>
          </p:cNvPr>
          <p:cNvSpPr>
            <a:spLocks noGrp="1"/>
          </p:cNvSpPr>
          <p:nvPr/>
        </p:nvSpPr>
        <p:spPr>
          <a:xfrm>
            <a:off x="2952750" y="34671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C88AE9-5B69-4316-8DE4-7B4EC7DB2293}"/>
              </a:ext>
            </a:extLst>
          </p:cNvPr>
          <p:cNvSpPr>
            <a:spLocks noGrp="1"/>
          </p:cNvSpPr>
          <p:nvPr/>
        </p:nvSpPr>
        <p:spPr>
          <a:xfrm>
            <a:off x="781050" y="544830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short dependency path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40AD907-DE2C-4A99-A5EC-685CA329E23E}"/>
              </a:ext>
            </a:extLst>
          </p:cNvPr>
          <p:cNvSpPr>
            <a:spLocks noGrp="1"/>
          </p:cNvSpPr>
          <p:nvPr/>
        </p:nvSpPr>
        <p:spPr>
          <a:xfrm>
            <a:off x="4286250" y="1543050"/>
            <a:ext cx="3333750" cy="44386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C65B8C-B082-4CC2-AC77-3BFA407C0E71}"/>
              </a:ext>
            </a:extLst>
          </p:cNvPr>
          <p:cNvSpPr>
            <a:spLocks noGrp="1"/>
          </p:cNvSpPr>
          <p:nvPr/>
        </p:nvSpPr>
        <p:spPr>
          <a:xfrm>
            <a:off x="4514850" y="17526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913"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3924E0-1D61-4D3B-87F3-2AF9EF8B7444}"/>
              </a:ext>
            </a:extLst>
          </p:cNvPr>
          <p:cNvSpPr>
            <a:spLocks noGrp="1"/>
          </p:cNvSpPr>
          <p:nvPr/>
        </p:nvSpPr>
        <p:spPr>
          <a:xfrm>
            <a:off x="4514850" y="20955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depth 4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93AD0EB-727B-4714-B8B5-5B55088425FF}"/>
              </a:ext>
            </a:extLst>
          </p:cNvPr>
          <p:cNvSpPr>
            <a:spLocks noGrp="1"/>
          </p:cNvSpPr>
          <p:nvPr/>
        </p:nvSpPr>
        <p:spPr>
          <a:xfrm flipV="1">
            <a:off x="4895850" y="2971800"/>
            <a:ext cx="495300" cy="74295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C053B4DF-DCD1-4FA1-A715-D6654F011A34}"/>
              </a:ext>
            </a:extLst>
          </p:cNvPr>
          <p:cNvSpPr>
            <a:spLocks noGrp="1"/>
          </p:cNvSpPr>
          <p:nvPr/>
        </p:nvSpPr>
        <p:spPr>
          <a:xfrm>
            <a:off x="5734050" y="2971800"/>
            <a:ext cx="495300" cy="102870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9471A95-EECB-437B-AC1F-5BDDC81AEF49}"/>
              </a:ext>
            </a:extLst>
          </p:cNvPr>
          <p:cNvSpPr>
            <a:spLocks noGrp="1"/>
          </p:cNvSpPr>
          <p:nvPr/>
        </p:nvSpPr>
        <p:spPr>
          <a:xfrm flipV="1">
            <a:off x="6572250" y="3333750"/>
            <a:ext cx="495300" cy="66675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51F8E04-030D-45E6-887D-4D999C006D5A}"/>
              </a:ext>
            </a:extLst>
          </p:cNvPr>
          <p:cNvSpPr>
            <a:spLocks noGrp="1"/>
          </p:cNvSpPr>
          <p:nvPr/>
        </p:nvSpPr>
        <p:spPr>
          <a:xfrm>
            <a:off x="4476750" y="3524250"/>
            <a:ext cx="514350" cy="514350"/>
          </a:xfrm>
          <a:prstGeom prst="ellipse">
            <a:avLst/>
          </a:prstGeom>
          <a:solidFill>
            <a:srgbClr val="EA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BD737D-C5F2-4A87-A10E-FEB2F93BFBCC}"/>
              </a:ext>
            </a:extLst>
          </p:cNvPr>
          <p:cNvSpPr>
            <a:spLocks noGrp="1"/>
          </p:cNvSpPr>
          <p:nvPr/>
        </p:nvSpPr>
        <p:spPr>
          <a:xfrm>
            <a:off x="4476750" y="36385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6D9D29D-4056-4989-982A-E8DE4A1C3215}"/>
              </a:ext>
            </a:extLst>
          </p:cNvPr>
          <p:cNvSpPr>
            <a:spLocks noGrp="1"/>
          </p:cNvSpPr>
          <p:nvPr/>
        </p:nvSpPr>
        <p:spPr>
          <a:xfrm>
            <a:off x="5314950" y="2781300"/>
            <a:ext cx="514350" cy="514350"/>
          </a:xfrm>
          <a:prstGeom prst="ellipse">
            <a:avLst/>
          </a:prstGeom>
          <a:solidFill>
            <a:srgbClr val="EA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5121B6-A441-4C94-993F-D2738862239E}"/>
              </a:ext>
            </a:extLst>
          </p:cNvPr>
          <p:cNvSpPr>
            <a:spLocks noGrp="1"/>
          </p:cNvSpPr>
          <p:nvPr/>
        </p:nvSpPr>
        <p:spPr>
          <a:xfrm>
            <a:off x="5314950" y="28956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4939FC5-98AB-4D0F-9382-1E5E466D2AE7}"/>
              </a:ext>
            </a:extLst>
          </p:cNvPr>
          <p:cNvSpPr>
            <a:spLocks noGrp="1"/>
          </p:cNvSpPr>
          <p:nvPr/>
        </p:nvSpPr>
        <p:spPr>
          <a:xfrm>
            <a:off x="6153150" y="3810000"/>
            <a:ext cx="514350" cy="514350"/>
          </a:xfrm>
          <a:prstGeom prst="ellipse">
            <a:avLst/>
          </a:prstGeom>
          <a:solidFill>
            <a:srgbClr val="EA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C30D8D-0B21-42E4-85E1-E1C4B97E12E5}"/>
              </a:ext>
            </a:extLst>
          </p:cNvPr>
          <p:cNvSpPr>
            <a:spLocks noGrp="1"/>
          </p:cNvSpPr>
          <p:nvPr/>
        </p:nvSpPr>
        <p:spPr>
          <a:xfrm>
            <a:off x="6153150" y="39243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5AE05FA-4515-469C-9D09-698EB824FAB7}"/>
              </a:ext>
            </a:extLst>
          </p:cNvPr>
          <p:cNvSpPr>
            <a:spLocks noGrp="1"/>
          </p:cNvSpPr>
          <p:nvPr/>
        </p:nvSpPr>
        <p:spPr>
          <a:xfrm>
            <a:off x="6991350" y="3143250"/>
            <a:ext cx="514350" cy="514350"/>
          </a:xfrm>
          <a:prstGeom prst="ellipse">
            <a:avLst/>
          </a:prstGeom>
          <a:solidFill>
            <a:srgbClr val="D1FAE5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F43649-5A7B-40DF-A2B3-9D76A41351FF}"/>
              </a:ext>
            </a:extLst>
          </p:cNvPr>
          <p:cNvSpPr>
            <a:spLocks noGrp="1"/>
          </p:cNvSpPr>
          <p:nvPr/>
        </p:nvSpPr>
        <p:spPr>
          <a:xfrm>
            <a:off x="6991350" y="32575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26A75C-FF4F-4286-B7D5-75CC31C0B07B}"/>
              </a:ext>
            </a:extLst>
          </p:cNvPr>
          <p:cNvSpPr>
            <a:spLocks noGrp="1"/>
          </p:cNvSpPr>
          <p:nvPr/>
        </p:nvSpPr>
        <p:spPr>
          <a:xfrm>
            <a:off x="4514850" y="544830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more state must survive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00F73C6-F5DA-467E-AFC8-DB79EC0C84AA}"/>
              </a:ext>
            </a:extLst>
          </p:cNvPr>
          <p:cNvSpPr>
            <a:spLocks noGrp="1"/>
          </p:cNvSpPr>
          <p:nvPr/>
        </p:nvSpPr>
        <p:spPr>
          <a:xfrm>
            <a:off x="8020050" y="1543050"/>
            <a:ext cx="3333750" cy="44386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92D2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E3A8CC-C8EA-4F3E-85EC-ABA14E255034}"/>
              </a:ext>
            </a:extLst>
          </p:cNvPr>
          <p:cNvSpPr>
            <a:spLocks noGrp="1"/>
          </p:cNvSpPr>
          <p:nvPr/>
        </p:nvSpPr>
        <p:spPr>
          <a:xfrm>
            <a:off x="8248650" y="17526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913"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Connected distractors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D3CA1D-C5B6-4732-B6BB-4682A8A2E3D6}"/>
              </a:ext>
            </a:extLst>
          </p:cNvPr>
          <p:cNvSpPr>
            <a:spLocks noGrp="1"/>
          </p:cNvSpPr>
          <p:nvPr/>
        </p:nvSpPr>
        <p:spPr>
          <a:xfrm>
            <a:off x="8248650" y="20955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buNone/>
              <a:defRPr sz="1125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+10 type-compatible tools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D42CE918-4AD0-49A4-B27A-AD2EC63D0AB7}"/>
              </a:ext>
            </a:extLst>
          </p:cNvPr>
          <p:cNvSpPr>
            <a:spLocks noGrp="1"/>
          </p:cNvSpPr>
          <p:nvPr/>
        </p:nvSpPr>
        <p:spPr>
          <a:xfrm flipV="1">
            <a:off x="8629650" y="2971800"/>
            <a:ext cx="495300" cy="74295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5CF463CE-BF13-4253-9A65-04F57181CC51}"/>
              </a:ext>
            </a:extLst>
          </p:cNvPr>
          <p:cNvSpPr>
            <a:spLocks noGrp="1"/>
          </p:cNvSpPr>
          <p:nvPr/>
        </p:nvSpPr>
        <p:spPr>
          <a:xfrm>
            <a:off x="9467850" y="2971800"/>
            <a:ext cx="495300" cy="102870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874F10F0-FE72-4735-BCBD-E1B725CF8875}"/>
              </a:ext>
            </a:extLst>
          </p:cNvPr>
          <p:cNvSpPr>
            <a:spLocks noGrp="1"/>
          </p:cNvSpPr>
          <p:nvPr/>
        </p:nvSpPr>
        <p:spPr>
          <a:xfrm flipV="1">
            <a:off x="10306050" y="3333750"/>
            <a:ext cx="495300" cy="66675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86622768-B377-40F1-BD5A-8FEA27500DBE}"/>
              </a:ext>
            </a:extLst>
          </p:cNvPr>
          <p:cNvSpPr>
            <a:spLocks noGrp="1"/>
          </p:cNvSpPr>
          <p:nvPr/>
        </p:nvSpPr>
        <p:spPr>
          <a:xfrm>
            <a:off x="9305925" y="3038475"/>
            <a:ext cx="800100" cy="2000250"/>
          </a:xfrm>
          <a:prstGeom prst="line">
            <a:avLst/>
          </a:prstGeom>
          <a:noFill/>
          <a:ln w="19050">
            <a:solidFill>
              <a:srgbClr val="D92D20"/>
            </a:solidFill>
            <a:prstDash val="solid"/>
          </a:ln>
        </p:spPr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71483B0F-2175-4480-877E-8B3E6172DDD3}"/>
              </a:ext>
            </a:extLst>
          </p:cNvPr>
          <p:cNvSpPr>
            <a:spLocks noGrp="1"/>
          </p:cNvSpPr>
          <p:nvPr/>
        </p:nvSpPr>
        <p:spPr>
          <a:xfrm flipV="1">
            <a:off x="10144125" y="2657475"/>
            <a:ext cx="800100" cy="1409700"/>
          </a:xfrm>
          <a:prstGeom prst="line">
            <a:avLst/>
          </a:prstGeom>
          <a:noFill/>
          <a:ln w="19050">
            <a:solidFill>
              <a:srgbClr val="D92D20"/>
            </a:solidFill>
            <a:prstDash val="solid"/>
          </a:ln>
        </p:spPr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4A3222A-7FAC-4305-9BF6-C3C5B7050350}"/>
              </a:ext>
            </a:extLst>
          </p:cNvPr>
          <p:cNvSpPr>
            <a:spLocks noGrp="1"/>
          </p:cNvSpPr>
          <p:nvPr/>
        </p:nvSpPr>
        <p:spPr>
          <a:xfrm>
            <a:off x="8210550" y="3524250"/>
            <a:ext cx="514350" cy="514350"/>
          </a:xfrm>
          <a:prstGeom prst="ellipse">
            <a:avLst/>
          </a:prstGeom>
          <a:solidFill>
            <a:srgbClr val="EA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68A8E0-37D9-4A61-A222-7722B1269C01}"/>
              </a:ext>
            </a:extLst>
          </p:cNvPr>
          <p:cNvSpPr>
            <a:spLocks noGrp="1"/>
          </p:cNvSpPr>
          <p:nvPr/>
        </p:nvSpPr>
        <p:spPr>
          <a:xfrm>
            <a:off x="8210550" y="36385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5F722DC-7C51-4318-9E20-67EC6955E609}"/>
              </a:ext>
            </a:extLst>
          </p:cNvPr>
          <p:cNvSpPr>
            <a:spLocks noGrp="1"/>
          </p:cNvSpPr>
          <p:nvPr/>
        </p:nvSpPr>
        <p:spPr>
          <a:xfrm>
            <a:off x="9048750" y="2781300"/>
            <a:ext cx="514350" cy="514350"/>
          </a:xfrm>
          <a:prstGeom prst="ellipse">
            <a:avLst/>
          </a:prstGeom>
          <a:solidFill>
            <a:srgbClr val="EA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4B8B068-09EE-4202-B498-73F87B88CE75}"/>
              </a:ext>
            </a:extLst>
          </p:cNvPr>
          <p:cNvSpPr>
            <a:spLocks noGrp="1"/>
          </p:cNvSpPr>
          <p:nvPr/>
        </p:nvSpPr>
        <p:spPr>
          <a:xfrm>
            <a:off x="9048750" y="28956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E6A40BA-913A-4E14-B5C4-5005CD390F4C}"/>
              </a:ext>
            </a:extLst>
          </p:cNvPr>
          <p:cNvSpPr>
            <a:spLocks noGrp="1"/>
          </p:cNvSpPr>
          <p:nvPr/>
        </p:nvSpPr>
        <p:spPr>
          <a:xfrm>
            <a:off x="9886950" y="3810000"/>
            <a:ext cx="514350" cy="514350"/>
          </a:xfrm>
          <a:prstGeom prst="ellipse">
            <a:avLst/>
          </a:prstGeom>
          <a:solidFill>
            <a:srgbClr val="EA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90E9690-24CA-4C7D-B7EB-1E9798DC13A3}"/>
              </a:ext>
            </a:extLst>
          </p:cNvPr>
          <p:cNvSpPr>
            <a:spLocks noGrp="1"/>
          </p:cNvSpPr>
          <p:nvPr/>
        </p:nvSpPr>
        <p:spPr>
          <a:xfrm>
            <a:off x="9886950" y="39243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26011E9-2EED-4CF0-9C98-341F05741A25}"/>
              </a:ext>
            </a:extLst>
          </p:cNvPr>
          <p:cNvSpPr>
            <a:spLocks noGrp="1"/>
          </p:cNvSpPr>
          <p:nvPr/>
        </p:nvSpPr>
        <p:spPr>
          <a:xfrm>
            <a:off x="10725150" y="3143250"/>
            <a:ext cx="514350" cy="514350"/>
          </a:xfrm>
          <a:prstGeom prst="ellipse">
            <a:avLst/>
          </a:prstGeom>
          <a:solidFill>
            <a:srgbClr val="D1FAE5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2CE830-C6D2-4704-88C7-230F15A193A0}"/>
              </a:ext>
            </a:extLst>
          </p:cNvPr>
          <p:cNvSpPr>
            <a:spLocks noGrp="1"/>
          </p:cNvSpPr>
          <p:nvPr/>
        </p:nvSpPr>
        <p:spPr>
          <a:xfrm>
            <a:off x="10725150" y="32575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7C520C2-9A70-4B8F-AE92-849171249CA5}"/>
              </a:ext>
            </a:extLst>
          </p:cNvPr>
          <p:cNvSpPr>
            <a:spLocks noGrp="1"/>
          </p:cNvSpPr>
          <p:nvPr/>
        </p:nvSpPr>
        <p:spPr>
          <a:xfrm>
            <a:off x="9886950" y="4819650"/>
            <a:ext cx="438150" cy="438150"/>
          </a:xfrm>
          <a:prstGeom prst="ellipse">
            <a:avLst/>
          </a:prstGeom>
          <a:solidFill>
            <a:srgbClr val="FEE4E2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4E64A2-507A-4774-9456-FAC78FD4A4EB}"/>
              </a:ext>
            </a:extLst>
          </p:cNvPr>
          <p:cNvSpPr>
            <a:spLocks noGrp="1"/>
          </p:cNvSpPr>
          <p:nvPr/>
        </p:nvSpPr>
        <p:spPr>
          <a:xfrm>
            <a:off x="9886950" y="49339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070B783-8A94-41CC-AA65-7A4A1F02301F}"/>
              </a:ext>
            </a:extLst>
          </p:cNvPr>
          <p:cNvSpPr>
            <a:spLocks noGrp="1"/>
          </p:cNvSpPr>
          <p:nvPr/>
        </p:nvSpPr>
        <p:spPr>
          <a:xfrm>
            <a:off x="10725150" y="2438400"/>
            <a:ext cx="438150" cy="438150"/>
          </a:xfrm>
          <a:prstGeom prst="ellipse">
            <a:avLst/>
          </a:prstGeom>
          <a:solidFill>
            <a:srgbClr val="FEE4E2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D9CAD0A-499A-4A3B-A38C-2D8FD74A6376}"/>
              </a:ext>
            </a:extLst>
          </p:cNvPr>
          <p:cNvSpPr>
            <a:spLocks noGrp="1"/>
          </p:cNvSpPr>
          <p:nvPr/>
        </p:nvSpPr>
        <p:spPr>
          <a:xfrm>
            <a:off x="10725150" y="25527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ctr">
              <a:buNone/>
              <a:defRPr sz="127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18C9A4B-04FE-409E-8064-3201DE2DE255}"/>
              </a:ext>
            </a:extLst>
          </p:cNvPr>
          <p:cNvSpPr>
            <a:spLocks noGrp="1"/>
          </p:cNvSpPr>
          <p:nvPr/>
        </p:nvSpPr>
        <p:spPr>
          <a:xfrm>
            <a:off x="8248650" y="544830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irrelevant routes look valid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628611-389C-42C1-B96A-249A5E66972C}"/>
              </a:ext>
            </a:extLst>
          </p:cNvPr>
          <p:cNvSpPr>
            <a:spLocks noGrp="1"/>
          </p:cNvSpPr>
          <p:nvPr/>
        </p:nvSpPr>
        <p:spPr>
          <a:xfrm>
            <a:off x="781050" y="620077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ctr">
              <a:buNone/>
              <a:defRPr sz="1350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Connected irrelevant nodes are hard because they share valid types with the solution graph.</a:t>
            </a:r>
          </a:p>
        </p:txBody>
      </p:sp>
    </p:spTree>
    <p:extLst>
      <p:ext uri="{BB962C8B-B14F-4D97-AF65-F5344CB8AC3E}">
        <p14:creationId xmlns:p14="http://schemas.microsoft.com/office/powerpoint/2010/main" val="80663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4278B91-024A-4E60-953E-331B8ADAAE15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65285A-2B33-4CE7-82EC-0FE26FB4ACC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faithful core plus a model-compatible extension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D9E88E7-D251-4978-ACFA-0918A30B55C4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871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49C6E5-F01A-4E51-BF1A-B25B2414E198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r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B31315F-D8E1-4BA8-93A7-194500882879}"/>
              </a:ext>
            </a:extLst>
          </p:cNvPr>
          <p:cNvSpPr>
            <a:spLocks noGrp="1"/>
          </p:cNvSpPr>
          <p:nvPr/>
        </p:nvSpPr>
        <p:spPr>
          <a:xfrm>
            <a:off x="2514600" y="2438400"/>
            <a:ext cx="400050" cy="17145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82998FD-5A1A-48BA-B3D6-69FF5A793742}"/>
              </a:ext>
            </a:extLst>
          </p:cNvPr>
          <p:cNvSpPr>
            <a:spLocks noGrp="1"/>
          </p:cNvSpPr>
          <p:nvPr/>
        </p:nvSpPr>
        <p:spPr>
          <a:xfrm>
            <a:off x="4838700" y="2438400"/>
            <a:ext cx="400050" cy="17145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9904DB4-009D-46D6-80BA-D9DE2F5EC4E7}"/>
              </a:ext>
            </a:extLst>
          </p:cNvPr>
          <p:cNvSpPr>
            <a:spLocks noGrp="1"/>
          </p:cNvSpPr>
          <p:nvPr/>
        </p:nvSpPr>
        <p:spPr>
          <a:xfrm>
            <a:off x="7162800" y="2438400"/>
            <a:ext cx="400050" cy="17145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782EB15-BA84-4334-A2E4-3D365412C5E8}"/>
              </a:ext>
            </a:extLst>
          </p:cNvPr>
          <p:cNvSpPr>
            <a:spLocks noGrp="1"/>
          </p:cNvSpPr>
          <p:nvPr/>
        </p:nvSpPr>
        <p:spPr>
          <a:xfrm>
            <a:off x="9486900" y="2438400"/>
            <a:ext cx="400050" cy="17145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A42D55-3E40-440B-B699-816A85E25C5B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1790700" cy="20955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75EA0F-4C9A-4B75-B15D-FF44C7070D8A}"/>
              </a:ext>
            </a:extLst>
          </p:cNvPr>
          <p:cNvSpPr>
            <a:spLocks noGrp="1"/>
          </p:cNvSpPr>
          <p:nvPr/>
        </p:nvSpPr>
        <p:spPr>
          <a:xfrm>
            <a:off x="723900" y="18478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422FB2-9095-4FC8-86ED-C0CDFB432AC3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Paper-style calibration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F505A6-1542-40AF-A6A6-264A427063B0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1466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Opaque schemas</a:t>
            </a:r>
          </a:p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2/5 easy → 0/5 deep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BBDA23D-571C-49A7-BDF9-357DE0D6FAFC}"/>
              </a:ext>
            </a:extLst>
          </p:cNvPr>
          <p:cNvSpPr>
            <a:spLocks noGrp="1"/>
          </p:cNvSpPr>
          <p:nvPr/>
        </p:nvSpPr>
        <p:spPr>
          <a:xfrm>
            <a:off x="2876550" y="1676400"/>
            <a:ext cx="1790700" cy="20955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72291A-1A80-42B2-9048-ED14777C5576}"/>
              </a:ext>
            </a:extLst>
          </p:cNvPr>
          <p:cNvSpPr>
            <a:spLocks noGrp="1"/>
          </p:cNvSpPr>
          <p:nvPr/>
        </p:nvSpPr>
        <p:spPr>
          <a:xfrm>
            <a:off x="3048000" y="18478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FE5BCC-4650-4731-B501-A98027141A15}"/>
              </a:ext>
            </a:extLst>
          </p:cNvPr>
          <p:cNvSpPr>
            <a:spLocks noGrp="1"/>
          </p:cNvSpPr>
          <p:nvPr/>
        </p:nvSpPr>
        <p:spPr>
          <a:xfrm>
            <a:off x="3048000" y="2190750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Shared interface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3D34F9-C319-4CE1-98B1-8FDE5CD25A7E}"/>
              </a:ext>
            </a:extLst>
          </p:cNvPr>
          <p:cNvSpPr>
            <a:spLocks noGrp="1"/>
          </p:cNvSpPr>
          <p:nvPr/>
        </p:nvSpPr>
        <p:spPr>
          <a:xfrm>
            <a:off x="3048000" y="2914650"/>
            <a:ext cx="1466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189"/>
          </a:bodyPr>
          <a:lstStyle/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Visible variable names</a:t>
            </a:r>
          </a:p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explicit premature-call errors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1EA5748-4BF6-4A32-A836-C145A6812EE7}"/>
              </a:ext>
            </a:extLst>
          </p:cNvPr>
          <p:cNvSpPr>
            <a:spLocks noGrp="1"/>
          </p:cNvSpPr>
          <p:nvPr/>
        </p:nvSpPr>
        <p:spPr>
          <a:xfrm>
            <a:off x="5200650" y="1676400"/>
            <a:ext cx="1790700" cy="20955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6E4A34-9BC2-4CAA-B847-2696C12EAB7C}"/>
              </a:ext>
            </a:extLst>
          </p:cNvPr>
          <p:cNvSpPr>
            <a:spLocks noGrp="1"/>
          </p:cNvSpPr>
          <p:nvPr/>
        </p:nvSpPr>
        <p:spPr>
          <a:xfrm>
            <a:off x="5372100" y="18478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5159DD-46BB-4EF6-B4A5-36459C275397}"/>
              </a:ext>
            </a:extLst>
          </p:cNvPr>
          <p:cNvSpPr>
            <a:spLocks noGrp="1"/>
          </p:cNvSpPr>
          <p:nvPr/>
        </p:nvSpPr>
        <p:spPr>
          <a:xfrm>
            <a:off x="5372100" y="2190750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Frozen fixtures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F23D47-A679-47EA-A36A-FE86C199E54A}"/>
              </a:ext>
            </a:extLst>
          </p:cNvPr>
          <p:cNvSpPr>
            <a:spLocks noGrp="1"/>
          </p:cNvSpPr>
          <p:nvPr/>
        </p:nvSpPr>
        <p:spPr>
          <a:xfrm>
            <a:off x="5372100" y="2914650"/>
            <a:ext cx="1466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 seeds × 3 conditions</a:t>
            </a:r>
          </a:p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identical tasks per strategy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D5BAEEC-6E70-4721-BEFF-BB59C9C15FAE}"/>
              </a:ext>
            </a:extLst>
          </p:cNvPr>
          <p:cNvSpPr>
            <a:spLocks noGrp="1"/>
          </p:cNvSpPr>
          <p:nvPr/>
        </p:nvSpPr>
        <p:spPr>
          <a:xfrm>
            <a:off x="7524750" y="1676400"/>
            <a:ext cx="1790700" cy="20955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FCC746-12D5-4740-88C6-CCDDEC41C85D}"/>
              </a:ext>
            </a:extLst>
          </p:cNvPr>
          <p:cNvSpPr>
            <a:spLocks noGrp="1"/>
          </p:cNvSpPr>
          <p:nvPr/>
        </p:nvSpPr>
        <p:spPr>
          <a:xfrm>
            <a:off x="7696200" y="18478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FD646E-0434-4295-A476-B1A08A20CC84}"/>
              </a:ext>
            </a:extLst>
          </p:cNvPr>
          <p:cNvSpPr>
            <a:spLocks noGrp="1"/>
          </p:cNvSpPr>
          <p:nvPr/>
        </p:nvSpPr>
        <p:spPr>
          <a:xfrm>
            <a:off x="7696200" y="2190750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Five state strategies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176BE8-D23D-4461-B59B-D133822C9BF8}"/>
              </a:ext>
            </a:extLst>
          </p:cNvPr>
          <p:cNvSpPr>
            <a:spLocks noGrp="1"/>
          </p:cNvSpPr>
          <p:nvPr/>
        </p:nvSpPr>
        <p:spPr>
          <a:xfrm>
            <a:off x="7696200" y="2914650"/>
            <a:ext cx="1466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096"/>
          </a:bodyPr>
          <a:lstStyle/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History • restatement • JSON</a:t>
            </a:r>
          </a:p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static prune • live prune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FDF8F44-5156-4DFA-A0BE-271C4A55D7A3}"/>
              </a:ext>
            </a:extLst>
          </p:cNvPr>
          <p:cNvSpPr>
            <a:spLocks noGrp="1"/>
          </p:cNvSpPr>
          <p:nvPr/>
        </p:nvSpPr>
        <p:spPr>
          <a:xfrm>
            <a:off x="9848850" y="1676400"/>
            <a:ext cx="1790700" cy="20955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CCA985-0F34-4AB1-83D4-475752D0F421}"/>
              </a:ext>
            </a:extLst>
          </p:cNvPr>
          <p:cNvSpPr>
            <a:spLocks noGrp="1"/>
          </p:cNvSpPr>
          <p:nvPr/>
        </p:nvSpPr>
        <p:spPr>
          <a:xfrm>
            <a:off x="10020300" y="18478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005281-569D-4DEF-81CD-D5D2715C63F7}"/>
              </a:ext>
            </a:extLst>
          </p:cNvPr>
          <p:cNvSpPr>
            <a:spLocks noGrp="1"/>
          </p:cNvSpPr>
          <p:nvPr/>
        </p:nvSpPr>
        <p:spPr>
          <a:xfrm>
            <a:off x="10020300" y="2190750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967"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Exact evaluator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A92EFB-2021-4C0B-9EE1-A43B3698A041}"/>
              </a:ext>
            </a:extLst>
          </p:cNvPr>
          <p:cNvSpPr>
            <a:spLocks noGrp="1"/>
          </p:cNvSpPr>
          <p:nvPr/>
        </p:nvSpPr>
        <p:spPr>
          <a:xfrm>
            <a:off x="10020300" y="2914650"/>
            <a:ext cx="1466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target value within</a:t>
            </a:r>
          </a:p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2× minimum calls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9975100-5F1F-4786-B20F-D0ABFD907EAD}"/>
              </a:ext>
            </a:extLst>
          </p:cNvPr>
          <p:cNvSpPr>
            <a:spLocks noGrp="1"/>
          </p:cNvSpPr>
          <p:nvPr/>
        </p:nvSpPr>
        <p:spPr>
          <a:xfrm>
            <a:off x="552450" y="4210050"/>
            <a:ext cx="11087100" cy="1581150"/>
          </a:xfrm>
          <a:prstGeom prst="roundRect">
            <a:avLst>
              <a:gd name="adj" fmla="val 7229"/>
            </a:avLst>
          </a:prstGeom>
          <a:solidFill>
            <a:srgbClr val="183153"/>
          </a:solidFill>
          <a:ln w="9525">
            <a:solidFill>
              <a:srgbClr val="18315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49B1D9-C5BD-4C3F-8940-9685B8920DE8}"/>
              </a:ext>
            </a:extLst>
          </p:cNvPr>
          <p:cNvSpPr>
            <a:spLocks noGrp="1"/>
          </p:cNvSpPr>
          <p:nvPr/>
        </p:nvSpPr>
        <p:spPr>
          <a:xfrm>
            <a:off x="819150" y="44958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583"/>
          </a:bodyPr>
          <a:lstStyle/>
          <a:p>
            <a:pPr algn="l"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75 paired executions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E8A436E-DC9D-415F-AA9D-F4CA0F7C29F2}"/>
              </a:ext>
            </a:extLst>
          </p:cNvPr>
          <p:cNvSpPr>
            <a:spLocks noGrp="1"/>
          </p:cNvSpPr>
          <p:nvPr/>
        </p:nvSpPr>
        <p:spPr>
          <a:xfrm>
            <a:off x="838200" y="498157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buNone/>
              <a:defRPr sz="1425" b="0">
                <a:solidFill>
                  <a:srgbClr val="B9D7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D7FF"/>
                </a:solidFill>
                <a:latin typeface="Aptos"/>
                <a:ea typeface="Aptos"/>
                <a:cs typeface="Aptos"/>
              </a:rPr>
              <a:t>15 graphs × 5 strategies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7B2B6B-2AC2-42D6-9BCC-16B689CED03F}"/>
              </a:ext>
            </a:extLst>
          </p:cNvPr>
          <p:cNvSpPr>
            <a:spLocks noGrp="1"/>
          </p:cNvSpPr>
          <p:nvPr/>
        </p:nvSpPr>
        <p:spPr>
          <a:xfrm>
            <a:off x="4476750" y="44767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>
                <a:solidFill>
                  <a:srgbClr val="B9D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D7FF"/>
                </a:solidFill>
                <a:latin typeface="Aptos"/>
                <a:ea typeface="Aptos"/>
                <a:cs typeface="Aptos"/>
              </a:rPr>
              <a:t>Fixed across strategies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1B364C-B5AA-41B3-BEEE-5B93995DB32D}"/>
              </a:ext>
            </a:extLst>
          </p:cNvPr>
          <p:cNvSpPr>
            <a:spLocks noGrp="1"/>
          </p:cNvSpPr>
          <p:nvPr/>
        </p:nvSpPr>
        <p:spPr>
          <a:xfrm>
            <a:off x="4476750" y="4848225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 • prompts • graph • tool order • call budget • success rule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F71ACF-14AF-4238-8FB5-A514E87664FF}"/>
              </a:ext>
            </a:extLst>
          </p:cNvPr>
          <p:cNvSpPr>
            <a:spLocks noGrp="1"/>
          </p:cNvSpPr>
          <p:nvPr/>
        </p:nvSpPr>
        <p:spPr>
          <a:xfrm>
            <a:off x="4476750" y="5286375"/>
            <a:ext cx="600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buNone/>
              <a:defRPr sz="1125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Live pruning is reported as a post hoc mechanism-driven follow-up.</a:t>
            </a:r>
          </a:p>
        </p:txBody>
      </p:sp>
    </p:spTree>
    <p:extLst>
      <p:ext uri="{BB962C8B-B14F-4D97-AF65-F5344CB8AC3E}">
        <p14:creationId xmlns:p14="http://schemas.microsoft.com/office/powerpoint/2010/main" val="1885765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2D06B81-9B22-45B7-A781-75DCB5B69883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453DB8-4A25-4D08-9A10-9C80CF570F3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Structured state wins—until compression becomes too aggressive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52A2D21-2532-4B8A-805F-3DAFAB3F23FE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871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8CFEFA-76A4-4C41-AAFA-3773280908A6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r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F67399-CD67-4584-8FF7-8820777A8212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6858000" cy="405765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850" y="1891288"/>
            <a:ext cx="6553200" cy="313257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E40458-EC6A-4BDC-A8E4-8BC387F6B622}"/>
              </a:ext>
            </a:extLst>
          </p:cNvPr>
          <p:cNvSpPr>
            <a:spLocks noGrp="1"/>
          </p:cNvSpPr>
          <p:nvPr/>
        </p:nvSpPr>
        <p:spPr>
          <a:xfrm>
            <a:off x="7620000" y="1466850"/>
            <a:ext cx="4019550" cy="4057650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9AD7FE-FA96-4736-BB82-B3EEFABA27AA}"/>
              </a:ext>
            </a:extLst>
          </p:cNvPr>
          <p:cNvSpPr>
            <a:spLocks noGrp="1"/>
          </p:cNvSpPr>
          <p:nvPr/>
        </p:nvSpPr>
        <p:spPr>
          <a:xfrm>
            <a:off x="7867650" y="1714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67"/>
          </a:bodyPr>
          <a:lstStyle/>
          <a:p>
            <a:pPr algn="l">
              <a:buNone/>
              <a:defRPr sz="1500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Compact-state trade-off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2D6AFC-5C26-48E7-BE53-5566D0341F0E}"/>
              </a:ext>
            </a:extLst>
          </p:cNvPr>
          <p:cNvSpPr>
            <a:spLocks noGrp="1"/>
          </p:cNvSpPr>
          <p:nvPr/>
        </p:nvSpPr>
        <p:spPr>
          <a:xfrm>
            <a:off x="7867650" y="20574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Cumulative reminder bytes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90FDB-9F90-456F-96E2-D2784895C27A}"/>
              </a:ext>
            </a:extLst>
          </p:cNvPr>
          <p:cNvSpPr>
            <a:spLocks noGrp="1"/>
          </p:cNvSpPr>
          <p:nvPr/>
        </p:nvSpPr>
        <p:spPr>
          <a:xfrm>
            <a:off x="7867650" y="25336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719615-EBBC-4F47-B109-51A2CE249A7B}"/>
              </a:ext>
            </a:extLst>
          </p:cNvPr>
          <p:cNvSpPr>
            <a:spLocks noGrp="1"/>
          </p:cNvSpPr>
          <p:nvPr/>
        </p:nvSpPr>
        <p:spPr>
          <a:xfrm>
            <a:off x="10668000" y="25336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r">
              <a:buNone/>
              <a:defRPr sz="1200" b="1">
                <a:solidFill>
                  <a:srgbClr val="0F9D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9D8A"/>
                </a:solidFill>
                <a:latin typeface="Aptos"/>
                <a:ea typeface="Aptos"/>
                <a:cs typeface="Aptos"/>
              </a:rPr>
              <a:t>15/15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78C1DE-B305-4A38-80D1-4B971B79BA67}"/>
              </a:ext>
            </a:extLst>
          </p:cNvPr>
          <p:cNvSpPr>
            <a:spLocks noGrp="1"/>
          </p:cNvSpPr>
          <p:nvPr/>
        </p:nvSpPr>
        <p:spPr>
          <a:xfrm>
            <a:off x="7867650" y="2857500"/>
            <a:ext cx="2571750" cy="171450"/>
          </a:xfrm>
          <a:prstGeom prst="roundRect">
            <a:avLst>
              <a:gd name="adj" fmla="val 38889"/>
            </a:avLst>
          </a:prstGeom>
          <a:solidFill>
            <a:srgbClr val="EAECF0"/>
          </a:solidFill>
          <a:ln w="9525">
            <a:solidFill>
              <a:srgbClr val="EAECF0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FA7D3D-D075-4906-8C29-7174B3C62326}"/>
              </a:ext>
            </a:extLst>
          </p:cNvPr>
          <p:cNvSpPr>
            <a:spLocks noGrp="1"/>
          </p:cNvSpPr>
          <p:nvPr/>
        </p:nvSpPr>
        <p:spPr>
          <a:xfrm>
            <a:off x="7867650" y="2857500"/>
            <a:ext cx="2571750" cy="171450"/>
          </a:xfrm>
          <a:prstGeom prst="roundRect">
            <a:avLst>
              <a:gd name="adj" fmla="val 38889"/>
            </a:avLst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0C424-2414-473E-9F9C-76386C384F34}"/>
              </a:ext>
            </a:extLst>
          </p:cNvPr>
          <p:cNvSpPr>
            <a:spLocks noGrp="1"/>
          </p:cNvSpPr>
          <p:nvPr/>
        </p:nvSpPr>
        <p:spPr>
          <a:xfrm>
            <a:off x="10534650" y="2838450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405 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BA6990-ACFC-4A2A-8670-6BF57DFEC068}"/>
              </a:ext>
            </a:extLst>
          </p:cNvPr>
          <p:cNvSpPr>
            <a:spLocks noGrp="1"/>
          </p:cNvSpPr>
          <p:nvPr/>
        </p:nvSpPr>
        <p:spPr>
          <a:xfrm>
            <a:off x="7867650" y="33718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Static prune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704E6F-B42A-4D91-90A5-3CF52E466CF0}"/>
              </a:ext>
            </a:extLst>
          </p:cNvPr>
          <p:cNvSpPr>
            <a:spLocks noGrp="1"/>
          </p:cNvSpPr>
          <p:nvPr/>
        </p:nvSpPr>
        <p:spPr>
          <a:xfrm>
            <a:off x="10668000" y="33718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r">
              <a:buNone/>
              <a:defRPr sz="1200" b="1">
                <a:solidFill>
                  <a:srgbClr val="A56AA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6AA1"/>
                </a:solidFill>
                <a:latin typeface="Aptos"/>
                <a:ea typeface="Aptos"/>
                <a:cs typeface="Aptos"/>
              </a:rPr>
              <a:t>15/15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527F1A-7936-4922-8650-DC01E0A4B8E1}"/>
              </a:ext>
            </a:extLst>
          </p:cNvPr>
          <p:cNvSpPr>
            <a:spLocks noGrp="1"/>
          </p:cNvSpPr>
          <p:nvPr/>
        </p:nvSpPr>
        <p:spPr>
          <a:xfrm>
            <a:off x="7867650" y="3695700"/>
            <a:ext cx="2571750" cy="171450"/>
          </a:xfrm>
          <a:prstGeom prst="roundRect">
            <a:avLst>
              <a:gd name="adj" fmla="val 38889"/>
            </a:avLst>
          </a:prstGeom>
          <a:solidFill>
            <a:srgbClr val="EAECF0"/>
          </a:solidFill>
          <a:ln w="9525">
            <a:solidFill>
              <a:srgbClr val="EAECF0"/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CF61BC3-C547-4E45-B7E9-F1F1C3ED2072}"/>
              </a:ext>
            </a:extLst>
          </p:cNvPr>
          <p:cNvSpPr>
            <a:spLocks noGrp="1"/>
          </p:cNvSpPr>
          <p:nvPr/>
        </p:nvSpPr>
        <p:spPr>
          <a:xfrm>
            <a:off x="7867650" y="3695700"/>
            <a:ext cx="2571750" cy="171450"/>
          </a:xfrm>
          <a:prstGeom prst="roundRect">
            <a:avLst>
              <a:gd name="adj" fmla="val 38889"/>
            </a:avLst>
          </a:prstGeom>
          <a:solidFill>
            <a:srgbClr val="A56AA1"/>
          </a:solidFill>
          <a:ln w="9525">
            <a:solidFill>
              <a:srgbClr val="A56AA1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BDB6A5-7992-4293-9542-2DF07A3AB27C}"/>
              </a:ext>
            </a:extLst>
          </p:cNvPr>
          <p:cNvSpPr>
            <a:spLocks noGrp="1"/>
          </p:cNvSpPr>
          <p:nvPr/>
        </p:nvSpPr>
        <p:spPr>
          <a:xfrm>
            <a:off x="10534650" y="3676650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405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D8B274-41FB-48B1-898C-4A36E68B08AE}"/>
              </a:ext>
            </a:extLst>
          </p:cNvPr>
          <p:cNvSpPr>
            <a:spLocks noGrp="1"/>
          </p:cNvSpPr>
          <p:nvPr/>
        </p:nvSpPr>
        <p:spPr>
          <a:xfrm>
            <a:off x="7867650" y="42100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Live prune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28788E-9E39-433D-AF85-8EE65D79A46F}"/>
              </a:ext>
            </a:extLst>
          </p:cNvPr>
          <p:cNvSpPr>
            <a:spLocks noGrp="1"/>
          </p:cNvSpPr>
          <p:nvPr/>
        </p:nvSpPr>
        <p:spPr>
          <a:xfrm>
            <a:off x="10668000" y="42100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r">
              <a:buNone/>
              <a:defRPr sz="12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EE1179C-7F8F-4CD1-A2F5-8BD8C0F6FCF2}"/>
              </a:ext>
            </a:extLst>
          </p:cNvPr>
          <p:cNvSpPr>
            <a:spLocks noGrp="1"/>
          </p:cNvSpPr>
          <p:nvPr/>
        </p:nvSpPr>
        <p:spPr>
          <a:xfrm>
            <a:off x="7867650" y="4533900"/>
            <a:ext cx="2571750" cy="171450"/>
          </a:xfrm>
          <a:prstGeom prst="roundRect">
            <a:avLst>
              <a:gd name="adj" fmla="val 38889"/>
            </a:avLst>
          </a:prstGeom>
          <a:solidFill>
            <a:srgbClr val="EAECF0"/>
          </a:solidFill>
          <a:ln w="9525">
            <a:solidFill>
              <a:srgbClr val="EAECF0"/>
            </a:solidFill>
            <a:prstDash val="solid"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40173F4-CC25-4EDD-8FA4-ED15FF403A32}"/>
              </a:ext>
            </a:extLst>
          </p:cNvPr>
          <p:cNvSpPr>
            <a:spLocks noGrp="1"/>
          </p:cNvSpPr>
          <p:nvPr/>
        </p:nvSpPr>
        <p:spPr>
          <a:xfrm>
            <a:off x="7867650" y="4533900"/>
            <a:ext cx="996950" cy="171450"/>
          </a:xfrm>
          <a:prstGeom prst="roundRect">
            <a:avLst>
              <a:gd name="adj" fmla="val 38889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541A15-6234-4F9E-9761-D714335FADA9}"/>
              </a:ext>
            </a:extLst>
          </p:cNvPr>
          <p:cNvSpPr>
            <a:spLocks noGrp="1"/>
          </p:cNvSpPr>
          <p:nvPr/>
        </p:nvSpPr>
        <p:spPr>
          <a:xfrm>
            <a:off x="10534650" y="4514850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157 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C71E4C-E225-498C-848A-DF01C58FF581}"/>
              </a:ext>
            </a:extLst>
          </p:cNvPr>
          <p:cNvSpPr>
            <a:spLocks noGrp="1"/>
          </p:cNvSpPr>
          <p:nvPr/>
        </p:nvSpPr>
        <p:spPr>
          <a:xfrm>
            <a:off x="7867650" y="49720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8889"/>
          </a:bodyPr>
          <a:lstStyle/>
          <a:p>
            <a:pPr algn="l">
              <a:buNone/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61.2% less state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C5F75F-46AD-4959-9D3D-708E43F007C9}"/>
              </a:ext>
            </a:extLst>
          </p:cNvPr>
          <p:cNvSpPr>
            <a:spLocks noGrp="1"/>
          </p:cNvSpPr>
          <p:nvPr/>
        </p:nvSpPr>
        <p:spPr>
          <a:xfrm>
            <a:off x="9486900" y="49720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8889"/>
          </a:bodyPr>
          <a:lstStyle/>
          <a:p>
            <a:pPr algn="r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but two connected failures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37BE144-EF86-4D44-AE17-71301A7C83EB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3390900" cy="666750"/>
          </a:xfrm>
          <a:prstGeom prst="roundRect">
            <a:avLst>
              <a:gd name="adj" fmla="val 17143"/>
            </a:avLst>
          </a:prstGeom>
          <a:solidFill>
            <a:srgbClr val="D1FAE5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23B543-8FB2-4F80-B36A-826C7596118B}"/>
              </a:ext>
            </a:extLst>
          </p:cNvPr>
          <p:cNvSpPr>
            <a:spLocks noGrp="1"/>
          </p:cNvSpPr>
          <p:nvPr/>
        </p:nvSpPr>
        <p:spPr>
          <a:xfrm>
            <a:off x="723900" y="58674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7778"/>
          </a:bodyPr>
          <a:lstStyle/>
          <a:p>
            <a:pPr algn="l">
              <a:buNone/>
              <a:defRPr sz="1125" b="1">
                <a:solidFill>
                  <a:srgbClr val="0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9D8A"/>
                </a:solidFill>
                <a:latin typeface="Aptos"/>
                <a:ea typeface="Aptos"/>
                <a:cs typeface="Aptos"/>
              </a:rPr>
              <a:t>JSON + static pruning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39F864-F5D0-4337-BE39-6F65E078D3E2}"/>
              </a:ext>
            </a:extLst>
          </p:cNvPr>
          <p:cNvSpPr>
            <a:spLocks noGrp="1"/>
          </p:cNvSpPr>
          <p:nvPr/>
        </p:nvSpPr>
        <p:spPr>
          <a:xfrm>
            <a:off x="723900" y="610552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0000"/>
          </a:bodyPr>
          <a:lstStyle/>
          <a:p>
            <a:pPr algn="l">
              <a:buNone/>
              <a:defRPr sz="1500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15/15 exact success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DE2A771-6ACD-4113-9121-23181DF473CB}"/>
              </a:ext>
            </a:extLst>
          </p:cNvPr>
          <p:cNvSpPr>
            <a:spLocks noGrp="1"/>
          </p:cNvSpPr>
          <p:nvPr/>
        </p:nvSpPr>
        <p:spPr>
          <a:xfrm>
            <a:off x="4095750" y="5753100"/>
            <a:ext cx="3524250" cy="666750"/>
          </a:xfrm>
          <a:prstGeom prst="roundRect">
            <a:avLst>
              <a:gd name="adj" fmla="val 17143"/>
            </a:avLst>
          </a:prstGeom>
          <a:solidFill>
            <a:srgbClr val="EA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47CEE6-C1C7-4D1E-AA63-CA1ABF7991E2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7778"/>
          </a:bodyPr>
          <a:lstStyle/>
          <a:p>
            <a:pPr algn="l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Connected distractors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09FCC3-27D3-4768-92F6-17B37D69A569}"/>
              </a:ext>
            </a:extLst>
          </p:cNvPr>
          <p:cNvSpPr>
            <a:spLocks noGrp="1"/>
          </p:cNvSpPr>
          <p:nvPr/>
        </p:nvSpPr>
        <p:spPr>
          <a:xfrm>
            <a:off x="4267200" y="61055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0000"/>
          </a:bodyPr>
          <a:lstStyle/>
          <a:p>
            <a:pPr algn="l">
              <a:buNone/>
              <a:defRPr sz="1500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full history falls to 3/5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FA7EA46-5828-4406-B51F-ED24C5ECA060}"/>
              </a:ext>
            </a:extLst>
          </p:cNvPr>
          <p:cNvSpPr>
            <a:spLocks noGrp="1"/>
          </p:cNvSpPr>
          <p:nvPr/>
        </p:nvSpPr>
        <p:spPr>
          <a:xfrm>
            <a:off x="7772400" y="5753100"/>
            <a:ext cx="3867150" cy="666750"/>
          </a:xfrm>
          <a:prstGeom prst="roundRect">
            <a:avLst>
              <a:gd name="adj" fmla="val 17143"/>
            </a:avLst>
          </a:prstGeom>
          <a:solidFill>
            <a:srgbClr val="FFF3E8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5342BE2-8A1D-4FC6-8E54-7B8648AB69D2}"/>
              </a:ext>
            </a:extLst>
          </p:cNvPr>
          <p:cNvSpPr>
            <a:spLocks noGrp="1"/>
          </p:cNvSpPr>
          <p:nvPr/>
        </p:nvSpPr>
        <p:spPr>
          <a:xfrm>
            <a:off x="7943850" y="5867400"/>
            <a:ext cx="3476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7778"/>
          </a:bodyPr>
          <a:lstStyle/>
          <a:p>
            <a:pPr algn="l">
              <a:buNone/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Live pruning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0DF828-0560-4787-B3BD-C9C313878361}"/>
              </a:ext>
            </a:extLst>
          </p:cNvPr>
          <p:cNvSpPr>
            <a:spLocks noGrp="1"/>
          </p:cNvSpPr>
          <p:nvPr/>
        </p:nvSpPr>
        <p:spPr>
          <a:xfrm>
            <a:off x="7943850" y="6105525"/>
            <a:ext cx="347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0000"/>
          </a:bodyPr>
          <a:lstStyle/>
          <a:p>
            <a:pPr algn="l">
              <a:buNone/>
              <a:defRPr sz="1500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61.2% smaller • 13/15 success</a:t>
            </a:r>
          </a:p>
        </p:txBody>
      </p:sp>
    </p:spTree>
    <p:extLst>
      <p:ext uri="{BB962C8B-B14F-4D97-AF65-F5344CB8AC3E}">
        <p14:creationId xmlns:p14="http://schemas.microsoft.com/office/powerpoint/2010/main" val="851044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A3C3CFB-8517-4A30-80D9-8F095FB0F5F6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C83898-AD21-4605-B656-929BD9A6520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Smaller state is useful only when it preserves the right evidence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24EA682-E89B-4B70-BB25-1A9B4AD587BC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871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422BD7-085D-4454-BB9F-180EC8000BEE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r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B1F621-0F48-4D9C-B597-2AB454FFF7B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6838950" cy="4095750"/>
          </a:xfrm>
          <a:prstGeom prst="roundRect">
            <a:avLst>
              <a:gd name="adj" fmla="val 2791"/>
            </a:avLst>
          </a:prstGeom>
          <a:solidFill>
            <a:srgbClr val="183153"/>
          </a:solidFill>
          <a:ln w="9525">
            <a:solidFill>
              <a:srgbClr val="18315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33D997-B8D4-4932-8453-C781B1E468B8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>
                <a:solidFill>
                  <a:srgbClr val="B9D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D7FF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FD77FE-B863-4259-BC45-38AB9B89C03A}"/>
              </a:ext>
            </a:extLst>
          </p:cNvPr>
          <p:cNvSpPr>
            <a:spLocks noGrp="1"/>
          </p:cNvSpPr>
          <p:nvPr/>
        </p:nvSpPr>
        <p:spPr>
          <a:xfrm>
            <a:off x="838200" y="2247900"/>
            <a:ext cx="5905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paper’s state-tracking problem</a:t>
            </a:r>
          </a:p>
          <a:p>
            <a:pPr algn="l"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was reproduced and then reframed</a:t>
            </a:r>
          </a:p>
          <a:p>
            <a:pPr algn="l"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 a state-representation experiment.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57917A-8A47-45AD-A60D-F9BE278FF40E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5905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E4E7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4E7EC"/>
                </a:solidFill>
                <a:latin typeface="Aptos"/>
                <a:ea typeface="Aptos"/>
                <a:cs typeface="Aptos"/>
              </a:rPr>
              <a:t>Explicit structured state recovered failures. Repeating every value helped only slightly. Aggressive live pruning reduced context but weakened connected-task reliability.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D932C6-088A-4FB9-9CAB-15F9D62BA25A}"/>
              </a:ext>
            </a:extLst>
          </p:cNvPr>
          <p:cNvSpPr>
            <a:spLocks noGrp="1"/>
          </p:cNvSpPr>
          <p:nvPr/>
        </p:nvSpPr>
        <p:spPr>
          <a:xfrm>
            <a:off x="838200" y="510540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739"/>
          </a:bodyPr>
          <a:lstStyle/>
          <a:p>
            <a:pPr algn="l">
              <a:buNone/>
              <a:defRPr sz="1425" b="1">
                <a:solidFill>
                  <a:srgbClr val="8FD3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FD3FF"/>
                </a:solidFill>
                <a:latin typeface="Aptos"/>
                <a:ea typeface="Aptos"/>
                <a:cs typeface="Aptos"/>
              </a:rPr>
              <a:t>Conclusion: reliability depends on what state remains—not only how little state remains.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D6FE69-DF1B-4378-943A-EA1DB3B98F6B}"/>
              </a:ext>
            </a:extLst>
          </p:cNvPr>
          <p:cNvSpPr>
            <a:spLocks noGrp="1"/>
          </p:cNvSpPr>
          <p:nvPr/>
        </p:nvSpPr>
        <p:spPr>
          <a:xfrm>
            <a:off x="7867650" y="16573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159"/>
          </a:bodyPr>
          <a:lstStyle/>
          <a:p>
            <a:pPr algn="l">
              <a:buNone/>
              <a:defRPr sz="1725" b="1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153"/>
                </a:solidFill>
                <a:latin typeface="Aptos"/>
                <a:ea typeface="Aptos"/>
                <a:cs typeface="Aptos"/>
              </a:rPr>
              <a:t>Submission package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BF339A-D97B-4960-9991-C855ECACEC26}"/>
              </a:ext>
            </a:extLst>
          </p:cNvPr>
          <p:cNvSpPr>
            <a:spLocks noGrp="1"/>
          </p:cNvSpPr>
          <p:nvPr/>
        </p:nvSpPr>
        <p:spPr>
          <a:xfrm>
            <a:off x="7829550" y="2171700"/>
            <a:ext cx="38100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2FAF441-0C80-429E-A7E4-B98DBB87BDD6}"/>
              </a:ext>
            </a:extLst>
          </p:cNvPr>
          <p:cNvSpPr>
            <a:spLocks noGrp="1"/>
          </p:cNvSpPr>
          <p:nvPr/>
        </p:nvSpPr>
        <p:spPr>
          <a:xfrm>
            <a:off x="8001000" y="2343150"/>
            <a:ext cx="495300" cy="495300"/>
          </a:xfrm>
          <a:prstGeom prst="ellipse">
            <a:avLst/>
          </a:prstGeom>
          <a:solidFill>
            <a:srgbClr val="EA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4F59B2-08DB-485D-A1F7-E00636F1B6F6}"/>
              </a:ext>
            </a:extLst>
          </p:cNvPr>
          <p:cNvSpPr>
            <a:spLocks noGrp="1"/>
          </p:cNvSpPr>
          <p:nvPr/>
        </p:nvSpPr>
        <p:spPr>
          <a:xfrm>
            <a:off x="8001000" y="2466975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8889"/>
          </a:bodyPr>
          <a:lstStyle/>
          <a:p>
            <a:pPr algn="ctr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5D7916-A001-478A-B9F5-1736C01609F3}"/>
              </a:ext>
            </a:extLst>
          </p:cNvPr>
          <p:cNvSpPr>
            <a:spLocks noGrp="1"/>
          </p:cNvSpPr>
          <p:nvPr/>
        </p:nvSpPr>
        <p:spPr>
          <a:xfrm>
            <a:off x="8686800" y="232410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702"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Reproducible repository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A1D1C5-9222-4ACB-AB6D-ED5B0D537053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68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runner • frozen fixtures • resume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E1CA21E-AB5E-4299-828E-0B950C910A9E}"/>
              </a:ext>
            </a:extLst>
          </p:cNvPr>
          <p:cNvSpPr>
            <a:spLocks noGrp="1"/>
          </p:cNvSpPr>
          <p:nvPr/>
        </p:nvSpPr>
        <p:spPr>
          <a:xfrm>
            <a:off x="7829550" y="3276600"/>
            <a:ext cx="38100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318B08-6B15-425B-82CA-E1B185C152E1}"/>
              </a:ext>
            </a:extLst>
          </p:cNvPr>
          <p:cNvSpPr>
            <a:spLocks noGrp="1"/>
          </p:cNvSpPr>
          <p:nvPr/>
        </p:nvSpPr>
        <p:spPr>
          <a:xfrm>
            <a:off x="8001000" y="3448050"/>
            <a:ext cx="495300" cy="495300"/>
          </a:xfrm>
          <a:prstGeom prst="ellipse">
            <a:avLst/>
          </a:prstGeom>
          <a:solidFill>
            <a:srgbClr val="EA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6C2B97-A2F2-4794-B1E8-9F02DEC35774}"/>
              </a:ext>
            </a:extLst>
          </p:cNvPr>
          <p:cNvSpPr>
            <a:spLocks noGrp="1"/>
          </p:cNvSpPr>
          <p:nvPr/>
        </p:nvSpPr>
        <p:spPr>
          <a:xfrm>
            <a:off x="8001000" y="3571875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8889"/>
          </a:bodyPr>
          <a:lstStyle/>
          <a:p>
            <a:pPr algn="ctr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491C03-D1D1-4F0E-A2D7-73C914B85807}"/>
              </a:ext>
            </a:extLst>
          </p:cNvPr>
          <p:cNvSpPr>
            <a:spLocks noGrp="1"/>
          </p:cNvSpPr>
          <p:nvPr/>
        </p:nvSpPr>
        <p:spPr>
          <a:xfrm>
            <a:off x="8686800" y="342900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702"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Four-page report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F99862-2F79-4440-B880-52C336DAB79F}"/>
              </a:ext>
            </a:extLst>
          </p:cNvPr>
          <p:cNvSpPr>
            <a:spLocks noGrp="1"/>
          </p:cNvSpPr>
          <p:nvPr/>
        </p:nvSpPr>
        <p:spPr>
          <a:xfrm>
            <a:off x="8686800" y="3752850"/>
            <a:ext cx="268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method • results • limitations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4620646-2DDD-4CCB-8A38-5E66037BD942}"/>
              </a:ext>
            </a:extLst>
          </p:cNvPr>
          <p:cNvSpPr>
            <a:spLocks noGrp="1"/>
          </p:cNvSpPr>
          <p:nvPr/>
        </p:nvSpPr>
        <p:spPr>
          <a:xfrm>
            <a:off x="7829550" y="4381500"/>
            <a:ext cx="38100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49B199D-401D-41C0-9D19-44DFC81AFF31}"/>
              </a:ext>
            </a:extLst>
          </p:cNvPr>
          <p:cNvSpPr>
            <a:spLocks noGrp="1"/>
          </p:cNvSpPr>
          <p:nvPr/>
        </p:nvSpPr>
        <p:spPr>
          <a:xfrm>
            <a:off x="8001000" y="4552950"/>
            <a:ext cx="495300" cy="495300"/>
          </a:xfrm>
          <a:prstGeom prst="ellipse">
            <a:avLst/>
          </a:prstGeom>
          <a:solidFill>
            <a:srgbClr val="EA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D1E45B-A308-45AF-ACC7-3D5581C849BF}"/>
              </a:ext>
            </a:extLst>
          </p:cNvPr>
          <p:cNvSpPr>
            <a:spLocks noGrp="1"/>
          </p:cNvSpPr>
          <p:nvPr/>
        </p:nvSpPr>
        <p:spPr>
          <a:xfrm>
            <a:off x="8001000" y="4676775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8889"/>
          </a:bodyPr>
          <a:lstStyle/>
          <a:p>
            <a:pPr algn="ctr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45DA71-591D-414D-ADF8-E83F911245E1}"/>
              </a:ext>
            </a:extLst>
          </p:cNvPr>
          <p:cNvSpPr>
            <a:spLocks noGrp="1"/>
          </p:cNvSpPr>
          <p:nvPr/>
        </p:nvSpPr>
        <p:spPr>
          <a:xfrm>
            <a:off x="8686800" y="453390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702"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Three-minute video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27CC29-66CA-4D88-B107-DA932D2AEFFC}"/>
              </a:ext>
            </a:extLst>
          </p:cNvPr>
          <p:cNvSpPr>
            <a:spLocks noGrp="1"/>
          </p:cNvSpPr>
          <p:nvPr/>
        </p:nvSpPr>
        <p:spPr>
          <a:xfrm>
            <a:off x="8686800" y="4857750"/>
            <a:ext cx="268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concept → execution → output</a:t>
            </a:r>
          </a:p>
        </p:txBody>
      </p:sp>
    </p:spTree>
    <p:extLst>
      <p:ext uri="{BB962C8B-B14F-4D97-AF65-F5344CB8AC3E}">
        <p14:creationId xmlns:p14="http://schemas.microsoft.com/office/powerpoint/2010/main" val="478585276"/>
      </p:ext>
    </p:extLst>
  </p:cSld>
  <p:clrMapOvr>
    <a:masterClrMapping/>
  </p:clrMapOvr>
</p:sld>
</file>

<file path=ppt/theme/theme1.xml><?xml version="1.0" encoding="utf-8"?>
<a:theme xmlns:a="http://schemas.openxmlformats.org/drawingml/2006/main" name="StateBench">
  <a:themeElements>
    <a:clrScheme name="StateBench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ateBen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teBench">
  <a:themeElements>
    <a:clrScheme name="StateBench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ateBen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423</Words>
  <Application>Microsoft Office PowerPoint</Application>
  <DocSecurity>0</DocSecurity>
  <PresentationFormat>Widescreen</PresentationFormat>
  <Paragraphs>127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Calibri</vt:lpstr>
      <vt:lpstr>StateBench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Domenico G. Labaki</cp:lastModifiedBy>
  <cp:revision>3</cp:revision>
  <dcterms:created xsi:type="dcterms:W3CDTF">2026-08-19T22:42:53Z</dcterms:created>
  <dcterms:modified xsi:type="dcterms:W3CDTF">2026-08-19T23:22:00Z</dcterms:modified>
</cp:coreProperties>
</file>